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5"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49" autoAdjust="0"/>
  </p:normalViewPr>
  <p:slideViewPr>
    <p:cSldViewPr snapToGrid="0" snapToObjects="1">
      <p:cViewPr varScale="1">
        <p:scale>
          <a:sx n="79" d="100"/>
          <a:sy n="79" d="100"/>
        </p:scale>
        <p:origin x="39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8183879" y="4800600"/>
            <a:ext cx="310896"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750807" y="4434840"/>
            <a:ext cx="310896"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17736" y="3931920"/>
            <a:ext cx="310896" cy="14173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884663" y="3383279"/>
            <a:ext cx="310896" cy="1965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451592" y="2788920"/>
            <a:ext cx="310896" cy="25603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7680960" y="4572000"/>
            <a:ext cx="777240" cy="502920"/>
          </a:xfrm>
          <a:prstGeom prst="line">
            <a:avLst/>
          </a:prstGeom>
          <a:ln w="38100">
            <a:solidFill>
              <a:srgbClr val="EA580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458200" y="4572000"/>
            <a:ext cx="566928" cy="182880"/>
          </a:xfrm>
          <a:prstGeom prst="line">
            <a:avLst/>
          </a:prstGeom>
          <a:ln w="38100">
            <a:solidFill>
              <a:srgbClr val="EA580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25128" y="4069080"/>
            <a:ext cx="566928" cy="685800"/>
          </a:xfrm>
          <a:prstGeom prst="line">
            <a:avLst/>
          </a:prstGeom>
          <a:ln w="38100">
            <a:solidFill>
              <a:srgbClr val="EA580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592056" y="3749039"/>
            <a:ext cx="566928" cy="320041"/>
          </a:xfrm>
          <a:prstGeom prst="line">
            <a:avLst/>
          </a:prstGeom>
          <a:ln w="38100">
            <a:solidFill>
              <a:srgbClr val="EA580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0158984" y="3017520"/>
            <a:ext cx="566928" cy="731519"/>
          </a:xfrm>
          <a:prstGeom prst="line">
            <a:avLst/>
          </a:prstGeom>
          <a:ln w="38100">
            <a:solidFill>
              <a:srgbClr val="EA580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0560" y="292608"/>
            <a:ext cx="7421880" cy="2031325"/>
          </a:xfrm>
          <a:prstGeom prst="rect">
            <a:avLst/>
          </a:prstGeom>
          <a:noFill/>
        </p:spPr>
        <p:txBody>
          <a:bodyPr wrap="square">
            <a:spAutoFit/>
          </a:bodyPr>
          <a:lstStyle/>
          <a:p>
            <a:pPr>
              <a:defRPr sz="4200" b="1">
                <a:solidFill>
                  <a:srgbClr val="122034"/>
                </a:solidFill>
              </a:defRPr>
            </a:pPr>
            <a:r>
              <a:rPr dirty="0"/>
              <a:t>Machine Learning</a:t>
            </a:r>
          </a:p>
          <a:p>
            <a:pPr>
              <a:defRPr sz="4200" b="1">
                <a:solidFill>
                  <a:srgbClr val="2563EB"/>
                </a:solidFill>
              </a:defRPr>
            </a:pPr>
            <a:r>
              <a:rPr dirty="0"/>
              <a:t>Approaches for E-Commerce</a:t>
            </a:r>
          </a:p>
          <a:p>
            <a:pPr>
              <a:defRPr sz="4200" b="1">
                <a:solidFill>
                  <a:srgbClr val="0D9488"/>
                </a:solidFill>
              </a:defRPr>
            </a:pPr>
            <a:r>
              <a:rPr dirty="0"/>
              <a:t>Sales Forecasting</a:t>
            </a:r>
          </a:p>
        </p:txBody>
      </p:sp>
      <p:sp>
        <p:nvSpPr>
          <p:cNvPr id="14" name="Rounded Rectangle 13"/>
          <p:cNvSpPr/>
          <p:nvPr/>
        </p:nvSpPr>
        <p:spPr>
          <a:xfrm>
            <a:off x="822960" y="2693586"/>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Team Members</a:t>
            </a:r>
            <a:endParaRPr dirty="0"/>
          </a:p>
        </p:txBody>
      </p:sp>
      <p:sp>
        <p:nvSpPr>
          <p:cNvPr id="15" name="TextBox 14"/>
          <p:cNvSpPr txBox="1"/>
          <p:nvPr/>
        </p:nvSpPr>
        <p:spPr>
          <a:xfrm>
            <a:off x="822960" y="5212080"/>
            <a:ext cx="2011680" cy="228600"/>
          </a:xfrm>
          <a:prstGeom prst="rect">
            <a:avLst/>
          </a:prstGeom>
          <a:noFill/>
        </p:spPr>
        <p:txBody>
          <a:bodyPr wrap="none">
            <a:spAutoFit/>
          </a:bodyPr>
          <a:lstStyle/>
          <a:p>
            <a:pPr algn="ctr">
              <a:defRPr sz="1000" b="1">
                <a:solidFill>
                  <a:srgbClr val="FFFFFF"/>
                </a:solidFill>
              </a:defRPr>
            </a:pPr>
            <a:r>
              <a:rPr dirty="0"/>
              <a:t>PROJECT </a:t>
            </a:r>
            <a:r>
              <a:rPr dirty="0" smtClean="0"/>
              <a:t>PRESENTATION</a:t>
            </a:r>
            <a:endParaRPr dirty="0"/>
          </a:p>
        </p:txBody>
      </p:sp>
      <p:sp>
        <p:nvSpPr>
          <p:cNvPr id="16" name="Rounded Rectangle 15"/>
          <p:cNvSpPr/>
          <p:nvPr/>
        </p:nvSpPr>
        <p:spPr>
          <a:xfrm>
            <a:off x="822960" y="4892040"/>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Shaik</a:t>
            </a:r>
            <a:r>
              <a:rPr lang="en-US" dirty="0" smtClean="0"/>
              <a:t> </a:t>
            </a:r>
            <a:r>
              <a:rPr lang="en-US" dirty="0" err="1" smtClean="0"/>
              <a:t>Aman</a:t>
            </a:r>
            <a:endParaRPr dirty="0"/>
          </a:p>
        </p:txBody>
      </p:sp>
      <p:sp>
        <p:nvSpPr>
          <p:cNvPr id="17" name="Rounded Rectangle 16"/>
          <p:cNvSpPr/>
          <p:nvPr/>
        </p:nvSpPr>
        <p:spPr>
          <a:xfrm>
            <a:off x="822960" y="5743956"/>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P.Rajeeth</a:t>
            </a:r>
            <a:r>
              <a:rPr lang="en-US" dirty="0" smtClean="0"/>
              <a:t> Varma</a:t>
            </a:r>
            <a:endParaRPr dirty="0"/>
          </a:p>
        </p:txBody>
      </p:sp>
      <p:sp>
        <p:nvSpPr>
          <p:cNvPr id="18" name="Rounded Rectangle 17"/>
          <p:cNvSpPr/>
          <p:nvPr/>
        </p:nvSpPr>
        <p:spPr>
          <a:xfrm>
            <a:off x="822960" y="4114799"/>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A.Sai</a:t>
            </a:r>
            <a:r>
              <a:rPr lang="en-US" dirty="0" smtClean="0"/>
              <a:t> </a:t>
            </a:r>
            <a:r>
              <a:rPr lang="en-US" dirty="0" err="1" smtClean="0"/>
              <a:t>Shrawan</a:t>
            </a:r>
            <a:endParaRPr dirty="0"/>
          </a:p>
        </p:txBody>
      </p:sp>
      <p:sp>
        <p:nvSpPr>
          <p:cNvPr id="19" name="Rounded Rectangle 18"/>
          <p:cNvSpPr/>
          <p:nvPr/>
        </p:nvSpPr>
        <p:spPr>
          <a:xfrm>
            <a:off x="822960" y="3372189"/>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t>K.Sai</a:t>
            </a:r>
            <a:r>
              <a:rPr lang="en-US" dirty="0" smtClean="0"/>
              <a:t> Vignesh</a:t>
            </a:r>
            <a:endParaRPr dirty="0"/>
          </a:p>
        </p:txBody>
      </p:sp>
      <p:sp>
        <p:nvSpPr>
          <p:cNvPr id="20" name="Rounded Rectangle 19"/>
          <p:cNvSpPr/>
          <p:nvPr/>
        </p:nvSpPr>
        <p:spPr>
          <a:xfrm>
            <a:off x="3090671" y="3399280"/>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2420030007</a:t>
            </a:r>
            <a:endParaRPr dirty="0"/>
          </a:p>
        </p:txBody>
      </p:sp>
      <p:sp>
        <p:nvSpPr>
          <p:cNvPr id="21" name="Rounded Rectangle 20"/>
          <p:cNvSpPr/>
          <p:nvPr/>
        </p:nvSpPr>
        <p:spPr>
          <a:xfrm>
            <a:off x="3127247" y="4160520"/>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2420030268</a:t>
            </a:r>
            <a:endParaRPr dirty="0"/>
          </a:p>
        </p:txBody>
      </p:sp>
      <p:sp>
        <p:nvSpPr>
          <p:cNvPr id="22" name="Rounded Rectangle 21"/>
          <p:cNvSpPr/>
          <p:nvPr/>
        </p:nvSpPr>
        <p:spPr>
          <a:xfrm>
            <a:off x="3133342" y="4891280"/>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2420030183</a:t>
            </a:r>
            <a:endParaRPr dirty="0"/>
          </a:p>
        </p:txBody>
      </p:sp>
      <p:sp>
        <p:nvSpPr>
          <p:cNvPr id="23" name="Rounded Rectangle 22"/>
          <p:cNvSpPr/>
          <p:nvPr/>
        </p:nvSpPr>
        <p:spPr>
          <a:xfrm>
            <a:off x="3127247" y="5743956"/>
            <a:ext cx="2011680" cy="502920"/>
          </a:xfrm>
          <a:prstGeom prst="roundRect">
            <a:avLst/>
          </a:prstGeom>
          <a:solidFill>
            <a:srgbClr val="12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2420030286</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502920"/>
          </a:xfrm>
          <a:prstGeom prst="rect">
            <a:avLst/>
          </a:prstGeom>
          <a:noFill/>
        </p:spPr>
        <p:txBody>
          <a:bodyPr wrap="none">
            <a:spAutoFit/>
          </a:bodyPr>
          <a:lstStyle/>
          <a:p>
            <a:pPr>
              <a:defRPr sz="2800" b="1">
                <a:solidFill>
                  <a:srgbClr val="122034"/>
                </a:solidFill>
                <a:latin typeface="Aptos Display"/>
              </a:defRPr>
            </a:pPr>
            <a:r>
              <a:t>Problem Statement</a:t>
            </a:r>
          </a:p>
        </p:txBody>
      </p:sp>
      <p:sp>
        <p:nvSpPr>
          <p:cNvPr id="4" name="TextBox 3"/>
          <p:cNvSpPr txBox="1"/>
          <p:nvPr/>
        </p:nvSpPr>
        <p:spPr>
          <a:xfrm>
            <a:off x="10881360" y="329184"/>
            <a:ext cx="640080" cy="457200"/>
          </a:xfrm>
          <a:prstGeom prst="rect">
            <a:avLst/>
          </a:prstGeom>
          <a:noFill/>
        </p:spPr>
        <p:txBody>
          <a:bodyPr wrap="none">
            <a:spAutoFit/>
          </a:bodyPr>
          <a:lstStyle/>
          <a:p>
            <a:pPr algn="r">
              <a:defRPr sz="2000" b="1">
                <a:solidFill>
                  <a:srgbClr val="2563EB"/>
                </a:solidFill>
              </a:defRPr>
            </a:pPr>
            <a:r>
              <a:t>01</a:t>
            </a:r>
          </a:p>
        </p:txBody>
      </p:sp>
      <p:sp>
        <p:nvSpPr>
          <p:cNvPr id="5" name="Rectangle 4"/>
          <p:cNvSpPr/>
          <p:nvPr/>
        </p:nvSpPr>
        <p:spPr>
          <a:xfrm>
            <a:off x="594360" y="941832"/>
            <a:ext cx="1097280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1584960"/>
            <a:ext cx="10927080" cy="2308324"/>
          </a:xfrm>
          <a:prstGeom prst="rect">
            <a:avLst/>
          </a:prstGeom>
          <a:noFill/>
        </p:spPr>
        <p:txBody>
          <a:bodyPr wrap="square">
            <a:spAutoFit/>
          </a:bodyPr>
          <a:lstStyle/>
          <a:p>
            <a:pPr algn="just"/>
            <a:r>
              <a:rPr lang="en-US" dirty="0"/>
              <a:t>E-commerce platforms generate large volumes of sales and transaction data that contain valuable information about customer demand, product trends, seasonality, promotions, and purchasing behavior. However, accurately forecasting future sales is challenging because e-commerce demand is influenced by multiple factors and can involve complex and nonlinear patterns. Inaccurate sales forecasts may lead to overstocking, </a:t>
            </a:r>
            <a:r>
              <a:rPr lang="en-US" dirty="0" err="1"/>
              <a:t>stockouts</a:t>
            </a:r>
            <a:r>
              <a:rPr lang="en-US" dirty="0"/>
              <a:t>, inefficient marketing, and poor supply-chain planning. Therefore, there is a need for a practical machine-learning-based approach that can analyze historical e-commerce sales data, identify important patterns and features, compare different forecasting models, and predict future sales more accurately to support effective inventory and sales planning.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502920"/>
          </a:xfrm>
          <a:prstGeom prst="rect">
            <a:avLst/>
          </a:prstGeom>
          <a:noFill/>
        </p:spPr>
        <p:txBody>
          <a:bodyPr wrap="none">
            <a:spAutoFit/>
          </a:bodyPr>
          <a:lstStyle/>
          <a:p>
            <a:pPr>
              <a:defRPr sz="2800" b="1">
                <a:solidFill>
                  <a:srgbClr val="122034"/>
                </a:solidFill>
                <a:latin typeface="Aptos Display"/>
              </a:defRPr>
            </a:pPr>
            <a:r>
              <a:rPr dirty="0"/>
              <a:t>Literature Survey — Studies 1 to 5</a:t>
            </a:r>
          </a:p>
        </p:txBody>
      </p:sp>
      <p:sp>
        <p:nvSpPr>
          <p:cNvPr id="4" name="TextBox 3"/>
          <p:cNvSpPr txBox="1"/>
          <p:nvPr/>
        </p:nvSpPr>
        <p:spPr>
          <a:xfrm>
            <a:off x="11077088" y="329184"/>
            <a:ext cx="444352" cy="400110"/>
          </a:xfrm>
          <a:prstGeom prst="rect">
            <a:avLst/>
          </a:prstGeom>
          <a:noFill/>
        </p:spPr>
        <p:txBody>
          <a:bodyPr wrap="none">
            <a:spAutoFit/>
          </a:bodyPr>
          <a:lstStyle/>
          <a:p>
            <a:pPr algn="r">
              <a:defRPr sz="2000" b="1">
                <a:solidFill>
                  <a:srgbClr val="2563EB"/>
                </a:solidFill>
              </a:defRPr>
            </a:pPr>
            <a:r>
              <a:rPr dirty="0" smtClean="0"/>
              <a:t>0</a:t>
            </a:r>
            <a:r>
              <a:rPr lang="en-US" dirty="0" smtClean="0"/>
              <a:t>2</a:t>
            </a:r>
            <a:endParaRPr dirty="0"/>
          </a:p>
        </p:txBody>
      </p:sp>
      <p:sp>
        <p:nvSpPr>
          <p:cNvPr id="5" name="Rectangle 4"/>
          <p:cNvSpPr/>
          <p:nvPr/>
        </p:nvSpPr>
        <p:spPr>
          <a:xfrm>
            <a:off x="594360" y="941832"/>
            <a:ext cx="1097280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0" name="Table 79"/>
          <p:cNvGraphicFramePr>
            <a:graphicFrameLocks noGrp="1"/>
          </p:cNvGraphicFramePr>
          <p:nvPr>
            <p:extLst>
              <p:ext uri="{D42A27DB-BD31-4B8C-83A1-F6EECF244321}">
                <p14:modId xmlns:p14="http://schemas.microsoft.com/office/powerpoint/2010/main" val="1467033584"/>
              </p:ext>
            </p:extLst>
          </p:nvPr>
        </p:nvGraphicFramePr>
        <p:xfrm>
          <a:off x="594359" y="1120140"/>
          <a:ext cx="10972801" cy="5536691"/>
        </p:xfrm>
        <a:graphic>
          <a:graphicData uri="http://schemas.openxmlformats.org/drawingml/2006/table">
            <a:tbl>
              <a:tblPr firstRow="1" bandRow="1">
                <a:tableStyleId>{5C22544A-7EE6-4342-B048-85BDC9FD1C3A}</a:tableStyleId>
              </a:tblPr>
              <a:tblGrid>
                <a:gridCol w="612648">
                  <a:extLst>
                    <a:ext uri="{9D8B030D-6E8A-4147-A177-3AD203B41FA5}">
                      <a16:colId xmlns:a16="http://schemas.microsoft.com/office/drawing/2014/main" val="3737256180"/>
                    </a:ext>
                  </a:extLst>
                </a:gridCol>
                <a:gridCol w="4488842">
                  <a:extLst>
                    <a:ext uri="{9D8B030D-6E8A-4147-A177-3AD203B41FA5}">
                      <a16:colId xmlns:a16="http://schemas.microsoft.com/office/drawing/2014/main" val="3630120078"/>
                    </a:ext>
                  </a:extLst>
                </a:gridCol>
                <a:gridCol w="2252009">
                  <a:extLst>
                    <a:ext uri="{9D8B030D-6E8A-4147-A177-3AD203B41FA5}">
                      <a16:colId xmlns:a16="http://schemas.microsoft.com/office/drawing/2014/main" val="2756137105"/>
                    </a:ext>
                  </a:extLst>
                </a:gridCol>
                <a:gridCol w="3619302">
                  <a:extLst>
                    <a:ext uri="{9D8B030D-6E8A-4147-A177-3AD203B41FA5}">
                      <a16:colId xmlns:a16="http://schemas.microsoft.com/office/drawing/2014/main" val="3569365389"/>
                    </a:ext>
                  </a:extLst>
                </a:gridCol>
              </a:tblGrid>
              <a:tr h="421570">
                <a:tc>
                  <a:txBody>
                    <a:bodyPr/>
                    <a:lstStyle/>
                    <a:p>
                      <a:r>
                        <a:rPr lang="en-IN" dirty="0" smtClean="0"/>
                        <a:t>No.</a:t>
                      </a:r>
                      <a:endParaRPr lang="en-IN" dirty="0"/>
                    </a:p>
                  </a:txBody>
                  <a:tcPr anchor="ctr"/>
                </a:tc>
                <a:tc>
                  <a:txBody>
                    <a:bodyPr/>
                    <a:lstStyle/>
                    <a:p>
                      <a:pPr lvl="3"/>
                      <a:r>
                        <a:rPr lang="en-IN" dirty="0" smtClean="0"/>
                        <a:t>Paper Title</a:t>
                      </a:r>
                      <a:endParaRPr lang="en-IN" dirty="0"/>
                    </a:p>
                  </a:txBody>
                  <a:tcPr/>
                </a:tc>
                <a:tc>
                  <a:txBody>
                    <a:bodyPr/>
                    <a:lstStyle/>
                    <a:p>
                      <a:r>
                        <a:rPr lang="en-IN" dirty="0" smtClean="0"/>
                        <a:t>Source</a:t>
                      </a:r>
                      <a:endParaRPr lang="en-IN" dirty="0"/>
                    </a:p>
                  </a:txBody>
                  <a:tcPr/>
                </a:tc>
                <a:tc>
                  <a:txBody>
                    <a:bodyPr/>
                    <a:lstStyle/>
                    <a:p>
                      <a:r>
                        <a:rPr lang="en-IN" dirty="0" smtClean="0"/>
                        <a:t>Limitation</a:t>
                      </a:r>
                      <a:endParaRPr lang="en-IN" dirty="0"/>
                    </a:p>
                  </a:txBody>
                  <a:tcPr/>
                </a:tc>
                <a:extLst>
                  <a:ext uri="{0D108BD9-81ED-4DB2-BD59-A6C34878D82A}">
                    <a16:rowId xmlns:a16="http://schemas.microsoft.com/office/drawing/2014/main" val="3577061181"/>
                  </a:ext>
                </a:extLst>
              </a:tr>
              <a:tr h="824346">
                <a:tc>
                  <a:txBody>
                    <a:bodyPr/>
                    <a:lstStyle/>
                    <a:p>
                      <a:r>
                        <a:rPr lang="en-US" dirty="0" smtClean="0"/>
                        <a:t>1.</a:t>
                      </a:r>
                      <a:endParaRPr lang="en-IN" dirty="0"/>
                    </a:p>
                  </a:txBody>
                  <a:tcPr/>
                </a:tc>
                <a:tc>
                  <a:txBody>
                    <a:bodyPr/>
                    <a:lstStyle/>
                    <a:p>
                      <a:r>
                        <a:rPr lang="en-US" sz="1400" dirty="0" smtClean="0"/>
                        <a:t>Sales Demand Forecast in E-commerce using a Long Short-Term Memory Neural Network Methodology</a:t>
                      </a:r>
                      <a:endParaRPr lang="en-IN" sz="1400" dirty="0"/>
                    </a:p>
                  </a:txBody>
                  <a:tcPr/>
                </a:tc>
                <a:tc>
                  <a:txBody>
                    <a:bodyPr/>
                    <a:lstStyle/>
                    <a:p>
                      <a:r>
                        <a:rPr lang="en-IN" sz="1400" dirty="0" err="1" smtClean="0"/>
                        <a:t>arXiv</a:t>
                      </a:r>
                      <a:r>
                        <a:rPr lang="en-IN" sz="1400" dirty="0" smtClean="0"/>
                        <a:t> / Monash University</a:t>
                      </a:r>
                      <a:endParaRPr lang="en-IN" sz="1400" dirty="0"/>
                    </a:p>
                  </a:txBody>
                  <a:tcPr/>
                </a:tc>
                <a:tc>
                  <a:txBody>
                    <a:bodyPr/>
                    <a:lstStyle/>
                    <a:p>
                      <a:r>
                        <a:rPr lang="en-US" sz="1400" dirty="0" smtClean="0"/>
                        <a:t>Limited comparison with a wider range of machine-learning and ensemble models.</a:t>
                      </a:r>
                      <a:endParaRPr lang="en-IN" sz="1400" dirty="0"/>
                    </a:p>
                  </a:txBody>
                  <a:tcPr/>
                </a:tc>
                <a:extLst>
                  <a:ext uri="{0D108BD9-81ED-4DB2-BD59-A6C34878D82A}">
                    <a16:rowId xmlns:a16="http://schemas.microsoft.com/office/drawing/2014/main" val="1133922881"/>
                  </a:ext>
                </a:extLst>
              </a:tr>
              <a:tr h="1034269">
                <a:tc>
                  <a:txBody>
                    <a:bodyPr/>
                    <a:lstStyle/>
                    <a:p>
                      <a:r>
                        <a:rPr lang="en-US" dirty="0" smtClean="0"/>
                        <a:t>2.</a:t>
                      </a:r>
                      <a:endParaRPr lang="en-IN" dirty="0"/>
                    </a:p>
                  </a:txBody>
                  <a:tcPr/>
                </a:tc>
                <a:tc>
                  <a:txBody>
                    <a:bodyPr/>
                    <a:lstStyle/>
                    <a:p>
                      <a:r>
                        <a:rPr lang="en-US" sz="1400" dirty="0" smtClean="0"/>
                        <a:t>Prediction of Merchandise Sales on E-Commerce Platforms Based on Data Mining and Deep Learning</a:t>
                      </a:r>
                      <a:endParaRPr lang="en-IN" sz="1400" dirty="0"/>
                    </a:p>
                  </a:txBody>
                  <a:tcPr/>
                </a:tc>
                <a:tc>
                  <a:txBody>
                    <a:bodyPr/>
                    <a:lstStyle/>
                    <a:p>
                      <a:r>
                        <a:rPr lang="en-IN" sz="1200" dirty="0" smtClean="0"/>
                        <a:t>Scientific Programming / Wiley</a:t>
                      </a:r>
                      <a:endParaRPr lang="en-IN" sz="1200" dirty="0"/>
                    </a:p>
                  </a:txBody>
                  <a:tcPr/>
                </a:tc>
                <a:tc>
                  <a:txBody>
                    <a:bodyPr/>
                    <a:lstStyle/>
                    <a:p>
                      <a:r>
                        <a:rPr lang="en-US" sz="1400" dirty="0" smtClean="0"/>
                        <a:t>Limited practical applicability because deep-learning approaches require substantial data and computational resources.</a:t>
                      </a:r>
                      <a:endParaRPr lang="en-IN" sz="1400" dirty="0"/>
                    </a:p>
                  </a:txBody>
                  <a:tcPr/>
                </a:tc>
                <a:extLst>
                  <a:ext uri="{0D108BD9-81ED-4DB2-BD59-A6C34878D82A}">
                    <a16:rowId xmlns:a16="http://schemas.microsoft.com/office/drawing/2014/main" val="2270486825"/>
                  </a:ext>
                </a:extLst>
              </a:tr>
              <a:tr h="1145652">
                <a:tc>
                  <a:txBody>
                    <a:bodyPr/>
                    <a:lstStyle/>
                    <a:p>
                      <a:r>
                        <a:rPr lang="en-US" dirty="0" smtClean="0"/>
                        <a:t>3</a:t>
                      </a:r>
                      <a:endParaRPr lang="en-IN"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kern="1200" dirty="0" smtClean="0">
                          <a:solidFill>
                            <a:schemeClr val="dk1"/>
                          </a:solidFill>
                          <a:effectLst/>
                          <a:latin typeface="+mn-lt"/>
                          <a:ea typeface="+mn-ea"/>
                          <a:cs typeface="+mn-cs"/>
                        </a:rPr>
                        <a:t>FS-LSTM: Sales Forecasting in E-Commerce on Feature Selection</a:t>
                      </a:r>
                    </a:p>
                    <a:p>
                      <a:endParaRPr lang="en-IN" sz="1400" dirty="0"/>
                    </a:p>
                  </a:txBody>
                  <a:tcPr/>
                </a:tc>
                <a:tc>
                  <a:txBody>
                    <a:bodyPr/>
                    <a:lstStyle/>
                    <a:p>
                      <a:r>
                        <a:rPr lang="en-US" sz="1400" dirty="0" smtClean="0"/>
                        <a:t>Journal of China Universities of Posts and Telecommunications</a:t>
                      </a:r>
                      <a:endParaRPr lang="en-IN" sz="1400" dirty="0"/>
                    </a:p>
                  </a:txBody>
                  <a:tcPr/>
                </a:tc>
                <a:tc>
                  <a:txBody>
                    <a:bodyPr/>
                    <a:lstStyle/>
                    <a:p>
                      <a:r>
                        <a:rPr lang="en-US" sz="1400" dirty="0" smtClean="0"/>
                        <a:t>Limited simplicity because combining feature selection with LSTM increases model-development and tuning complexity.</a:t>
                      </a:r>
                      <a:endParaRPr lang="en-IN" sz="1400" dirty="0"/>
                    </a:p>
                  </a:txBody>
                  <a:tcPr/>
                </a:tc>
                <a:extLst>
                  <a:ext uri="{0D108BD9-81ED-4DB2-BD59-A6C34878D82A}">
                    <a16:rowId xmlns:a16="http://schemas.microsoft.com/office/drawing/2014/main" val="1357197091"/>
                  </a:ext>
                </a:extLst>
              </a:tr>
              <a:tr h="970623">
                <a:tc>
                  <a:txBody>
                    <a:bodyPr/>
                    <a:lstStyle/>
                    <a:p>
                      <a:r>
                        <a:rPr lang="en-US" dirty="0" smtClean="0"/>
                        <a:t>4.</a:t>
                      </a:r>
                      <a:endParaRPr lang="en-IN" dirty="0"/>
                    </a:p>
                  </a:txBody>
                  <a:tcPr/>
                </a:tc>
                <a:tc>
                  <a:txBody>
                    <a:bodyPr/>
                    <a:lstStyle/>
                    <a:p>
                      <a:r>
                        <a:rPr lang="en-US" sz="1400" dirty="0" smtClean="0"/>
                        <a:t>An Application of a Three-Stage </a:t>
                      </a:r>
                      <a:r>
                        <a:rPr lang="en-US" sz="1400" dirty="0" err="1" smtClean="0"/>
                        <a:t>XGBoost</a:t>
                      </a:r>
                      <a:r>
                        <a:rPr lang="en-US" sz="1400" dirty="0" smtClean="0"/>
                        <a:t>-Based Model to Sales Forecasting of a Cross-Border E-Commerce Enterprise</a:t>
                      </a:r>
                      <a:endParaRPr lang="en-IN" sz="1400" dirty="0"/>
                    </a:p>
                  </a:txBody>
                  <a:tcPr/>
                </a:tc>
                <a:tc>
                  <a:txBody>
                    <a:bodyPr/>
                    <a:lstStyle/>
                    <a:p>
                      <a:r>
                        <a:rPr lang="en-US" sz="1400" dirty="0" smtClean="0"/>
                        <a:t>Mathematical Problems in Engineering / Wiley</a:t>
                      </a:r>
                      <a:endParaRPr lang="en-IN" sz="1400" dirty="0"/>
                    </a:p>
                  </a:txBody>
                  <a:tcPr/>
                </a:tc>
                <a:tc>
                  <a:txBody>
                    <a:bodyPr/>
                    <a:lstStyle/>
                    <a:p>
                      <a:r>
                        <a:rPr lang="en-US" sz="1400" dirty="0" smtClean="0"/>
                        <a:t>Limited generalization because the study focuses on a specific cross-border e-commerce environment.</a:t>
                      </a:r>
                      <a:endParaRPr lang="en-IN" sz="1400" dirty="0"/>
                    </a:p>
                  </a:txBody>
                  <a:tcPr/>
                </a:tc>
                <a:extLst>
                  <a:ext uri="{0D108BD9-81ED-4DB2-BD59-A6C34878D82A}">
                    <a16:rowId xmlns:a16="http://schemas.microsoft.com/office/drawing/2014/main" val="876419527"/>
                  </a:ext>
                </a:extLst>
              </a:tr>
              <a:tr h="1140231">
                <a:tc>
                  <a:txBody>
                    <a:bodyPr/>
                    <a:lstStyle/>
                    <a:p>
                      <a:r>
                        <a:rPr lang="en-US" dirty="0" smtClean="0"/>
                        <a:t>5.</a:t>
                      </a:r>
                      <a:endParaRPr lang="en-IN" dirty="0"/>
                    </a:p>
                  </a:txBody>
                  <a:tcPr/>
                </a:tc>
                <a:tc>
                  <a:txBody>
                    <a:bodyPr/>
                    <a:lstStyle/>
                    <a:p>
                      <a:r>
                        <a:rPr lang="en-US" sz="1400" dirty="0" smtClean="0"/>
                        <a:t>Predicting Future Sales of Retail Products using Machine Learning</a:t>
                      </a:r>
                      <a:endParaRPr lang="en-IN" sz="1400" dirty="0"/>
                    </a:p>
                  </a:txBody>
                  <a:tcPr/>
                </a:tc>
                <a:tc>
                  <a:txBody>
                    <a:bodyPr/>
                    <a:lstStyle/>
                    <a:p>
                      <a:r>
                        <a:rPr lang="en-IN" sz="1400" dirty="0" err="1" smtClean="0"/>
                        <a:t>arXiv</a:t>
                      </a:r>
                      <a:endParaRPr lang="en-IN" sz="1400" dirty="0"/>
                    </a:p>
                  </a:txBody>
                  <a:tcPr/>
                </a:tc>
                <a:tc>
                  <a:txBody>
                    <a:bodyPr/>
                    <a:lstStyle/>
                    <a:p>
                      <a:r>
                        <a:rPr lang="en-US" sz="1400" dirty="0" smtClean="0"/>
                        <a:t>Limited validation across different datasets and broader forecasting models.</a:t>
                      </a:r>
                      <a:endParaRPr lang="en-IN" sz="1400" dirty="0"/>
                    </a:p>
                  </a:txBody>
                  <a:tcPr/>
                </a:tc>
                <a:extLst>
                  <a:ext uri="{0D108BD9-81ED-4DB2-BD59-A6C34878D82A}">
                    <a16:rowId xmlns:a16="http://schemas.microsoft.com/office/drawing/2014/main" val="3185357108"/>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502920"/>
          </a:xfrm>
          <a:prstGeom prst="rect">
            <a:avLst/>
          </a:prstGeom>
          <a:noFill/>
        </p:spPr>
        <p:txBody>
          <a:bodyPr wrap="none">
            <a:spAutoFit/>
          </a:bodyPr>
          <a:lstStyle/>
          <a:p>
            <a:pPr>
              <a:defRPr sz="2800" b="1">
                <a:solidFill>
                  <a:srgbClr val="122034"/>
                </a:solidFill>
                <a:latin typeface="Aptos Display"/>
              </a:defRPr>
            </a:pPr>
            <a:r>
              <a:t>Literature Survey — Studies 6 to 10</a:t>
            </a:r>
          </a:p>
        </p:txBody>
      </p:sp>
      <p:sp>
        <p:nvSpPr>
          <p:cNvPr id="4" name="TextBox 3"/>
          <p:cNvSpPr txBox="1"/>
          <p:nvPr/>
        </p:nvSpPr>
        <p:spPr>
          <a:xfrm>
            <a:off x="11077088" y="329184"/>
            <a:ext cx="444352" cy="400110"/>
          </a:xfrm>
          <a:prstGeom prst="rect">
            <a:avLst/>
          </a:prstGeom>
          <a:noFill/>
        </p:spPr>
        <p:txBody>
          <a:bodyPr wrap="none">
            <a:spAutoFit/>
          </a:bodyPr>
          <a:lstStyle/>
          <a:p>
            <a:pPr algn="r">
              <a:defRPr sz="2000" b="1">
                <a:solidFill>
                  <a:srgbClr val="2563EB"/>
                </a:solidFill>
              </a:defRPr>
            </a:pPr>
            <a:r>
              <a:rPr dirty="0" smtClean="0"/>
              <a:t>0</a:t>
            </a:r>
            <a:r>
              <a:rPr lang="en-US" dirty="0" smtClean="0"/>
              <a:t>3</a:t>
            </a:r>
            <a:endParaRPr dirty="0"/>
          </a:p>
        </p:txBody>
      </p:sp>
      <p:sp>
        <p:nvSpPr>
          <p:cNvPr id="5" name="Rectangle 4"/>
          <p:cNvSpPr/>
          <p:nvPr/>
        </p:nvSpPr>
        <p:spPr>
          <a:xfrm>
            <a:off x="594360" y="941832"/>
            <a:ext cx="1097280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9" name="Table 78"/>
          <p:cNvGraphicFramePr>
            <a:graphicFrameLocks noGrp="1"/>
          </p:cNvGraphicFramePr>
          <p:nvPr>
            <p:extLst>
              <p:ext uri="{D42A27DB-BD31-4B8C-83A1-F6EECF244321}">
                <p14:modId xmlns:p14="http://schemas.microsoft.com/office/powerpoint/2010/main" val="1331174434"/>
              </p:ext>
            </p:extLst>
          </p:nvPr>
        </p:nvGraphicFramePr>
        <p:xfrm>
          <a:off x="621792" y="1219198"/>
          <a:ext cx="10945368" cy="4955288"/>
        </p:xfrm>
        <a:graphic>
          <a:graphicData uri="http://schemas.openxmlformats.org/drawingml/2006/table">
            <a:tbl>
              <a:tblPr firstRow="1" bandRow="1">
                <a:tableStyleId>{5C22544A-7EE6-4342-B048-85BDC9FD1C3A}</a:tableStyleId>
              </a:tblPr>
              <a:tblGrid>
                <a:gridCol w="560832">
                  <a:extLst>
                    <a:ext uri="{9D8B030D-6E8A-4147-A177-3AD203B41FA5}">
                      <a16:colId xmlns:a16="http://schemas.microsoft.com/office/drawing/2014/main" val="3255763087"/>
                    </a:ext>
                  </a:extLst>
                </a:gridCol>
                <a:gridCol w="4218432">
                  <a:extLst>
                    <a:ext uri="{9D8B030D-6E8A-4147-A177-3AD203B41FA5}">
                      <a16:colId xmlns:a16="http://schemas.microsoft.com/office/drawing/2014/main" val="1476650371"/>
                    </a:ext>
                  </a:extLst>
                </a:gridCol>
                <a:gridCol w="3429762">
                  <a:extLst>
                    <a:ext uri="{9D8B030D-6E8A-4147-A177-3AD203B41FA5}">
                      <a16:colId xmlns:a16="http://schemas.microsoft.com/office/drawing/2014/main" val="4246794863"/>
                    </a:ext>
                  </a:extLst>
                </a:gridCol>
                <a:gridCol w="2736342">
                  <a:extLst>
                    <a:ext uri="{9D8B030D-6E8A-4147-A177-3AD203B41FA5}">
                      <a16:colId xmlns:a16="http://schemas.microsoft.com/office/drawing/2014/main" val="533235673"/>
                    </a:ext>
                  </a:extLst>
                </a:gridCol>
              </a:tblGrid>
              <a:tr h="487682">
                <a:tc>
                  <a:txBody>
                    <a:bodyPr/>
                    <a:lstStyle/>
                    <a:p>
                      <a:r>
                        <a:rPr lang="en-US" dirty="0" smtClean="0"/>
                        <a:t>No.</a:t>
                      </a:r>
                      <a:endParaRPr lang="en-IN" dirty="0"/>
                    </a:p>
                  </a:txBody>
                  <a:tcPr/>
                </a:tc>
                <a:tc>
                  <a:txBody>
                    <a:bodyPr/>
                    <a:lstStyle/>
                    <a:p>
                      <a:r>
                        <a:rPr lang="en-US" dirty="0" smtClean="0"/>
                        <a:t>Title</a:t>
                      </a:r>
                      <a:endParaRPr lang="en-IN" dirty="0"/>
                    </a:p>
                  </a:txBody>
                  <a:tcPr/>
                </a:tc>
                <a:tc>
                  <a:txBody>
                    <a:bodyPr/>
                    <a:lstStyle/>
                    <a:p>
                      <a:r>
                        <a:rPr lang="en-US" dirty="0" smtClean="0"/>
                        <a:t>Source</a:t>
                      </a:r>
                      <a:endParaRPr lang="en-IN" dirty="0"/>
                    </a:p>
                  </a:txBody>
                  <a:tcPr/>
                </a:tc>
                <a:tc>
                  <a:txBody>
                    <a:bodyPr/>
                    <a:lstStyle/>
                    <a:p>
                      <a:r>
                        <a:rPr lang="en-US" dirty="0" smtClean="0"/>
                        <a:t>Limitation</a:t>
                      </a:r>
                      <a:endParaRPr lang="en-IN" dirty="0"/>
                    </a:p>
                  </a:txBody>
                  <a:tcPr/>
                </a:tc>
                <a:extLst>
                  <a:ext uri="{0D108BD9-81ED-4DB2-BD59-A6C34878D82A}">
                    <a16:rowId xmlns:a16="http://schemas.microsoft.com/office/drawing/2014/main" val="2575606223"/>
                  </a:ext>
                </a:extLst>
              </a:tr>
              <a:tr h="859282">
                <a:tc>
                  <a:txBody>
                    <a:bodyPr/>
                    <a:lstStyle/>
                    <a:p>
                      <a:r>
                        <a:rPr lang="en-US" dirty="0" smtClean="0"/>
                        <a:t>6.</a:t>
                      </a:r>
                      <a:endParaRPr lang="en-IN" dirty="0"/>
                    </a:p>
                  </a:txBody>
                  <a:tcPr/>
                </a:tc>
                <a:tc>
                  <a:txBody>
                    <a:bodyPr/>
                    <a:lstStyle/>
                    <a:p>
                      <a:r>
                        <a:rPr lang="en-US" sz="1400" dirty="0" smtClean="0"/>
                        <a:t>E-Commerce Sales Forecasting by Comparing LSTM, SARIMA, and </a:t>
                      </a:r>
                      <a:r>
                        <a:rPr lang="en-US" sz="1400" dirty="0" err="1" smtClean="0"/>
                        <a:t>XGBoost</a:t>
                      </a:r>
                      <a:r>
                        <a:rPr lang="en-US" sz="1400" dirty="0" smtClean="0"/>
                        <a:t> Models</a:t>
                      </a:r>
                      <a:endParaRPr lang="en-IN" sz="1400" dirty="0"/>
                    </a:p>
                  </a:txBody>
                  <a:tcPr/>
                </a:tc>
                <a:tc>
                  <a:txBody>
                    <a:bodyPr/>
                    <a:lstStyle/>
                    <a:p>
                      <a:r>
                        <a:rPr lang="en-US" sz="1400" dirty="0" smtClean="0"/>
                        <a:t>Journal of Emerging Technology and Digital Transformation</a:t>
                      </a:r>
                      <a:endParaRPr lang="en-IN" sz="1400" dirty="0"/>
                    </a:p>
                  </a:txBody>
                  <a:tcPr/>
                </a:tc>
                <a:tc>
                  <a:txBody>
                    <a:bodyPr/>
                    <a:lstStyle/>
                    <a:p>
                      <a:r>
                        <a:rPr lang="en-US" sz="1400" dirty="0" smtClean="0"/>
                        <a:t>Limited model coverage because only selected forecasting approaches are compared.</a:t>
                      </a:r>
                      <a:endParaRPr lang="en-IN" sz="1400" dirty="0"/>
                    </a:p>
                  </a:txBody>
                  <a:tcPr/>
                </a:tc>
                <a:extLst>
                  <a:ext uri="{0D108BD9-81ED-4DB2-BD59-A6C34878D82A}">
                    <a16:rowId xmlns:a16="http://schemas.microsoft.com/office/drawing/2014/main" val="730751347"/>
                  </a:ext>
                </a:extLst>
              </a:tr>
              <a:tr h="859282">
                <a:tc>
                  <a:txBody>
                    <a:bodyPr/>
                    <a:lstStyle/>
                    <a:p>
                      <a:r>
                        <a:rPr lang="en-US" dirty="0" smtClean="0"/>
                        <a:t>7.</a:t>
                      </a:r>
                      <a:endParaRPr lang="en-IN" dirty="0"/>
                    </a:p>
                  </a:txBody>
                  <a:tcPr/>
                </a:tc>
                <a:tc>
                  <a:txBody>
                    <a:bodyPr/>
                    <a:lstStyle/>
                    <a:p>
                      <a:r>
                        <a:rPr lang="en-US" sz="1400" dirty="0" smtClean="0"/>
                        <a:t>Sales Forecasting and Data-Driven Marketing Strategies for E-Commerce Platforms Using </a:t>
                      </a:r>
                      <a:r>
                        <a:rPr lang="en-US" sz="1400" dirty="0" err="1" smtClean="0"/>
                        <a:t>XGBoost</a:t>
                      </a:r>
                      <a:endParaRPr lang="en-IN" sz="1400" dirty="0"/>
                    </a:p>
                  </a:txBody>
                  <a:tcPr/>
                </a:tc>
                <a:tc>
                  <a:txBody>
                    <a:bodyPr/>
                    <a:lstStyle/>
                    <a:p>
                      <a:r>
                        <a:rPr lang="en-IN" sz="1400" dirty="0" smtClean="0"/>
                        <a:t>International Journal of Intelligent Information Technologies / IGI Global</a:t>
                      </a:r>
                      <a:endParaRPr lang="en-IN" sz="1400" dirty="0"/>
                    </a:p>
                  </a:txBody>
                  <a:tcPr/>
                </a:tc>
                <a:tc>
                  <a:txBody>
                    <a:bodyPr/>
                    <a:lstStyle/>
                    <a:p>
                      <a:r>
                        <a:rPr lang="en-US" sz="1400" dirty="0" smtClean="0"/>
                        <a:t>Limited comparison with a wider range of machine-learning and deep-learning models.</a:t>
                      </a:r>
                      <a:endParaRPr lang="en-IN" sz="1400" dirty="0"/>
                    </a:p>
                  </a:txBody>
                  <a:tcPr/>
                </a:tc>
                <a:extLst>
                  <a:ext uri="{0D108BD9-81ED-4DB2-BD59-A6C34878D82A}">
                    <a16:rowId xmlns:a16="http://schemas.microsoft.com/office/drawing/2014/main" val="1714081326"/>
                  </a:ext>
                </a:extLst>
              </a:tr>
              <a:tr h="859282">
                <a:tc>
                  <a:txBody>
                    <a:bodyPr/>
                    <a:lstStyle/>
                    <a:p>
                      <a:r>
                        <a:rPr lang="en-US" dirty="0" smtClean="0"/>
                        <a:t>8.</a:t>
                      </a:r>
                      <a:endParaRPr lang="en-IN" dirty="0"/>
                    </a:p>
                  </a:txBody>
                  <a:tcPr/>
                </a:tc>
                <a:tc>
                  <a:txBody>
                    <a:bodyPr/>
                    <a:lstStyle/>
                    <a:p>
                      <a:r>
                        <a:rPr lang="en-US" sz="1400" dirty="0" smtClean="0"/>
                        <a:t>Unlocking Your Sales Insights: Advanced </a:t>
                      </a:r>
                      <a:r>
                        <a:rPr lang="en-US" sz="1400" dirty="0" err="1" smtClean="0"/>
                        <a:t>XGBoost</a:t>
                      </a:r>
                      <a:r>
                        <a:rPr lang="en-US" sz="1400" dirty="0" smtClean="0"/>
                        <a:t> Forecasting Models for Amazon Products</a:t>
                      </a:r>
                      <a:endParaRPr lang="en-IN" sz="1400" dirty="0"/>
                    </a:p>
                  </a:txBody>
                  <a:tcPr/>
                </a:tc>
                <a:tc>
                  <a:txBody>
                    <a:bodyPr/>
                    <a:lstStyle/>
                    <a:p>
                      <a:r>
                        <a:rPr lang="en-US" sz="1400" dirty="0" smtClean="0"/>
                        <a:t>Springer / Future Information Technology Conference</a:t>
                      </a:r>
                      <a:endParaRPr lang="en-IN" sz="1400" dirty="0"/>
                    </a:p>
                  </a:txBody>
                  <a:tcPr/>
                </a:tc>
                <a:tc>
                  <a:txBody>
                    <a:bodyPr/>
                    <a:lstStyle/>
                    <a:p>
                      <a:r>
                        <a:rPr lang="en-US" sz="1400" dirty="0" smtClean="0"/>
                        <a:t>Limited generalization because the study focuses mainly on Amazon products and a specific product category.</a:t>
                      </a:r>
                      <a:endParaRPr lang="en-IN" sz="1400" dirty="0"/>
                    </a:p>
                  </a:txBody>
                  <a:tcPr/>
                </a:tc>
                <a:extLst>
                  <a:ext uri="{0D108BD9-81ED-4DB2-BD59-A6C34878D82A}">
                    <a16:rowId xmlns:a16="http://schemas.microsoft.com/office/drawing/2014/main" val="1891528788"/>
                  </a:ext>
                </a:extLst>
              </a:tr>
              <a:tr h="859282">
                <a:tc>
                  <a:txBody>
                    <a:bodyPr/>
                    <a:lstStyle/>
                    <a:p>
                      <a:r>
                        <a:rPr lang="en-US" dirty="0" smtClean="0"/>
                        <a:t>9.</a:t>
                      </a:r>
                      <a:endParaRPr lang="en-IN" dirty="0"/>
                    </a:p>
                  </a:txBody>
                  <a:tcPr/>
                </a:tc>
                <a:tc>
                  <a:txBody>
                    <a:bodyPr/>
                    <a:lstStyle/>
                    <a:p>
                      <a:r>
                        <a:rPr lang="en-US" sz="1400" dirty="0" smtClean="0"/>
                        <a:t>Enhancing Retail Demand Forecasting with </a:t>
                      </a:r>
                      <a:r>
                        <a:rPr lang="en-US" sz="1400" dirty="0" err="1" smtClean="0"/>
                        <a:t>XGBoost</a:t>
                      </a:r>
                      <a:r>
                        <a:rPr lang="en-US" sz="1400" dirty="0" smtClean="0"/>
                        <a:t>: A Comparative Study with Machine Learning and Deep Learning Models</a:t>
                      </a:r>
                      <a:endParaRPr lang="en-IN" sz="1400" dirty="0"/>
                    </a:p>
                  </a:txBody>
                  <a:tcPr/>
                </a:tc>
                <a:tc>
                  <a:txBody>
                    <a:bodyPr/>
                    <a:lstStyle/>
                    <a:p>
                      <a:r>
                        <a:rPr lang="en-IN" sz="1400" dirty="0" smtClean="0"/>
                        <a:t>SSRN</a:t>
                      </a:r>
                      <a:endParaRPr lang="en-IN" sz="1400" dirty="0"/>
                    </a:p>
                  </a:txBody>
                  <a:tcPr/>
                </a:tc>
                <a:tc>
                  <a:txBody>
                    <a:bodyPr/>
                    <a:lstStyle/>
                    <a:p>
                      <a:r>
                        <a:rPr lang="en-US" sz="1400" dirty="0" smtClean="0"/>
                        <a:t>Limited validation across multiple e-commerce datasets and business environments.</a:t>
                      </a:r>
                      <a:endParaRPr lang="en-IN" sz="1400" dirty="0"/>
                    </a:p>
                  </a:txBody>
                  <a:tcPr/>
                </a:tc>
                <a:extLst>
                  <a:ext uri="{0D108BD9-81ED-4DB2-BD59-A6C34878D82A}">
                    <a16:rowId xmlns:a16="http://schemas.microsoft.com/office/drawing/2014/main" val="1864576873"/>
                  </a:ext>
                </a:extLst>
              </a:tr>
              <a:tr h="859282">
                <a:tc>
                  <a:txBody>
                    <a:bodyPr/>
                    <a:lstStyle/>
                    <a:p>
                      <a:r>
                        <a:rPr lang="en-US" dirty="0" smtClean="0"/>
                        <a:t>10.</a:t>
                      </a:r>
                      <a:endParaRPr lang="en-IN" dirty="0"/>
                    </a:p>
                  </a:txBody>
                  <a:tcPr/>
                </a:tc>
                <a:tc>
                  <a:txBody>
                    <a:bodyPr/>
                    <a:lstStyle/>
                    <a:p>
                      <a:r>
                        <a:rPr lang="en-US" sz="1400" dirty="0" smtClean="0"/>
                        <a:t>Forecasting Weekly Sales Using Lag-Based Feature Engineering and a Bagged Tree Ensemble</a:t>
                      </a:r>
                      <a:endParaRPr lang="en-IN" sz="1400" dirty="0"/>
                    </a:p>
                  </a:txBody>
                  <a:tcPr/>
                </a:tc>
                <a:tc>
                  <a:txBody>
                    <a:bodyPr/>
                    <a:lstStyle/>
                    <a:p>
                      <a:r>
                        <a:rPr lang="en-US" sz="1400" dirty="0" smtClean="0"/>
                        <a:t>Machine Learning with Applications / Elsevier</a:t>
                      </a:r>
                      <a:endParaRPr lang="en-IN" sz="1400" dirty="0"/>
                    </a:p>
                  </a:txBody>
                  <a:tcPr/>
                </a:tc>
                <a:tc>
                  <a:txBody>
                    <a:bodyPr/>
                    <a:lstStyle/>
                    <a:p>
                      <a:r>
                        <a:rPr lang="en-US" sz="1400" dirty="0" smtClean="0"/>
                        <a:t>Limited applicability to broader e-commerce transaction data because the study focuses on weekly retail sales.</a:t>
                      </a:r>
                      <a:endParaRPr lang="en-IN" sz="1400" dirty="0"/>
                    </a:p>
                  </a:txBody>
                  <a:tcPr/>
                </a:tc>
                <a:extLst>
                  <a:ext uri="{0D108BD9-81ED-4DB2-BD59-A6C34878D82A}">
                    <a16:rowId xmlns:a16="http://schemas.microsoft.com/office/drawing/2014/main" val="1879273289"/>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2004075" cy="523220"/>
          </a:xfrm>
          <a:prstGeom prst="rect">
            <a:avLst/>
          </a:prstGeom>
          <a:noFill/>
        </p:spPr>
        <p:txBody>
          <a:bodyPr wrap="none">
            <a:spAutoFit/>
          </a:bodyPr>
          <a:lstStyle/>
          <a:p>
            <a:pPr>
              <a:defRPr sz="2800" b="1">
                <a:solidFill>
                  <a:srgbClr val="122034"/>
                </a:solidFill>
                <a:latin typeface="Aptos Display"/>
              </a:defRPr>
            </a:pPr>
            <a:r>
              <a:rPr lang="en-US" dirty="0" smtClean="0"/>
              <a:t>Objectives</a:t>
            </a:r>
            <a:endParaRPr dirty="0"/>
          </a:p>
        </p:txBody>
      </p:sp>
      <p:sp>
        <p:nvSpPr>
          <p:cNvPr id="4" name="TextBox 3"/>
          <p:cNvSpPr txBox="1"/>
          <p:nvPr/>
        </p:nvSpPr>
        <p:spPr>
          <a:xfrm>
            <a:off x="11077088" y="329184"/>
            <a:ext cx="444352" cy="400110"/>
          </a:xfrm>
          <a:prstGeom prst="rect">
            <a:avLst/>
          </a:prstGeom>
          <a:noFill/>
        </p:spPr>
        <p:txBody>
          <a:bodyPr wrap="none">
            <a:spAutoFit/>
          </a:bodyPr>
          <a:lstStyle/>
          <a:p>
            <a:pPr algn="r">
              <a:defRPr sz="2000" b="1">
                <a:solidFill>
                  <a:srgbClr val="2563EB"/>
                </a:solidFill>
              </a:defRPr>
            </a:pPr>
            <a:r>
              <a:rPr dirty="0" smtClean="0"/>
              <a:t>0</a:t>
            </a:r>
            <a:r>
              <a:rPr lang="en-US" dirty="0" smtClean="0"/>
              <a:t>4</a:t>
            </a:r>
            <a:endParaRPr dirty="0"/>
          </a:p>
        </p:txBody>
      </p:sp>
      <p:sp>
        <p:nvSpPr>
          <p:cNvPr id="5" name="Rectangle 4"/>
          <p:cNvSpPr/>
          <p:nvPr/>
        </p:nvSpPr>
        <p:spPr>
          <a:xfrm>
            <a:off x="594360" y="941832"/>
            <a:ext cx="1097280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2955" y="1341120"/>
            <a:ext cx="10358613" cy="2308324"/>
          </a:xfrm>
          <a:prstGeom prst="rect">
            <a:avLst/>
          </a:prstGeom>
          <a:noFill/>
        </p:spPr>
        <p:txBody>
          <a:bodyPr wrap="square">
            <a:spAutoFit/>
          </a:bodyPr>
          <a:lstStyle/>
          <a:p>
            <a:pPr marL="342900" indent="-342900">
              <a:buFont typeface="+mj-lt"/>
              <a:buAutoNum type="arabicPeriod"/>
            </a:pPr>
            <a:r>
              <a:rPr lang="en-US" dirty="0"/>
              <a:t>To analyze historical e-commerce sales data to identify trends, seasonality, and demand patterns</a:t>
            </a:r>
            <a:r>
              <a:rPr lang="en-US" dirty="0" smtClean="0"/>
              <a:t>.</a:t>
            </a:r>
          </a:p>
          <a:p>
            <a:pPr marL="342900" indent="-342900">
              <a:buFont typeface="+mj-lt"/>
              <a:buAutoNum type="arabicPeriod"/>
            </a:pPr>
            <a:r>
              <a:rPr lang="en-US" dirty="0"/>
              <a:t>To apply suitable machine-learning approaches to historical e-commerce sales data for sales forecasting</a:t>
            </a:r>
            <a:r>
              <a:rPr lang="en-US" dirty="0" smtClean="0"/>
              <a:t>.</a:t>
            </a:r>
          </a:p>
          <a:p>
            <a:pPr marL="342900" indent="-342900">
              <a:buFont typeface="+mj-lt"/>
              <a:buAutoNum type="arabicPeriod"/>
            </a:pPr>
            <a:r>
              <a:rPr lang="en-US" dirty="0"/>
              <a:t>To identify the key factors influencing e-commerce sales, including product demand, pricing, promotions, holidays, and customer purchasing patterns.</a:t>
            </a:r>
          </a:p>
          <a:p>
            <a:pPr marL="342900" indent="-342900">
              <a:buFont typeface="+mj-lt"/>
              <a:buAutoNum type="arabicPeriod"/>
            </a:pPr>
            <a:r>
              <a:rPr lang="en-US" dirty="0"/>
              <a:t>To examine seasonal and time-based variations in e-commerce sales to understand their effect on future demand.</a:t>
            </a:r>
            <a:endParaRPr lang="en-US" dirty="0" smtClean="0"/>
          </a:p>
          <a:p>
            <a:pPr marL="342900" indent="-342900">
              <a:buFont typeface="+mj-lt"/>
              <a:buAutoNum type="arabicPeriod"/>
            </a:pPr>
            <a:endParaRPr lang="en-US" dirty="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502920"/>
          </a:xfrm>
          <a:prstGeom prst="rect">
            <a:avLst/>
          </a:prstGeom>
          <a:noFill/>
        </p:spPr>
        <p:txBody>
          <a:bodyPr wrap="none">
            <a:spAutoFit/>
          </a:bodyPr>
          <a:lstStyle/>
          <a:p>
            <a:pPr>
              <a:defRPr sz="2800" b="1">
                <a:solidFill>
                  <a:srgbClr val="122034"/>
                </a:solidFill>
                <a:latin typeface="Aptos Display"/>
              </a:defRPr>
            </a:pPr>
            <a:r>
              <a:rPr dirty="0"/>
              <a:t>Research Gap Identification</a:t>
            </a:r>
          </a:p>
        </p:txBody>
      </p:sp>
      <p:sp>
        <p:nvSpPr>
          <p:cNvPr id="4" name="TextBox 3"/>
          <p:cNvSpPr txBox="1"/>
          <p:nvPr/>
        </p:nvSpPr>
        <p:spPr>
          <a:xfrm>
            <a:off x="10881360" y="329184"/>
            <a:ext cx="640080" cy="457200"/>
          </a:xfrm>
          <a:prstGeom prst="rect">
            <a:avLst/>
          </a:prstGeom>
          <a:noFill/>
        </p:spPr>
        <p:txBody>
          <a:bodyPr wrap="none">
            <a:spAutoFit/>
          </a:bodyPr>
          <a:lstStyle/>
          <a:p>
            <a:pPr algn="r">
              <a:defRPr sz="2000" b="1">
                <a:solidFill>
                  <a:srgbClr val="2563EB"/>
                </a:solidFill>
              </a:defRPr>
            </a:pPr>
            <a:r>
              <a:t>05</a:t>
            </a:r>
          </a:p>
        </p:txBody>
      </p:sp>
      <p:sp>
        <p:nvSpPr>
          <p:cNvPr id="5" name="Rectangle 4"/>
          <p:cNvSpPr/>
          <p:nvPr/>
        </p:nvSpPr>
        <p:spPr>
          <a:xfrm>
            <a:off x="594360" y="941832"/>
            <a:ext cx="1097280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1792" y="1443841"/>
            <a:ext cx="10945368" cy="3139321"/>
          </a:xfrm>
          <a:prstGeom prst="rect">
            <a:avLst/>
          </a:prstGeom>
        </p:spPr>
        <p:txBody>
          <a:bodyPr wrap="square">
            <a:spAutoFit/>
          </a:bodyPr>
          <a:lstStyle/>
          <a:p>
            <a:pPr marL="342900" indent="-342900" algn="just">
              <a:buFont typeface="+mj-lt"/>
              <a:buAutoNum type="arabicPeriod"/>
            </a:pPr>
            <a:r>
              <a:rPr lang="en-US" dirty="0" smtClean="0"/>
              <a:t>Limited </a:t>
            </a:r>
            <a:r>
              <a:rPr lang="en-US" dirty="0"/>
              <a:t>comparison of different machine-learning and forecasting approaches across the same e-commerce dataset, making it difficult to determine the most suitable approach for sales forecasting</a:t>
            </a:r>
            <a:r>
              <a:rPr lang="en-US" dirty="0" smtClean="0"/>
              <a:t>.</a:t>
            </a:r>
          </a:p>
          <a:p>
            <a:pPr marL="342900" indent="-342900" algn="just">
              <a:buFont typeface="+mj-lt"/>
              <a:buAutoNum type="arabicPeriod"/>
            </a:pPr>
            <a:r>
              <a:rPr lang="en-US" dirty="0" smtClean="0"/>
              <a:t>Limited </a:t>
            </a:r>
            <a:r>
              <a:rPr lang="en-US" dirty="0"/>
              <a:t>validation of forecasting approaches across different e-commerce datasets and business environments, reducing the generalizability of forecasting results</a:t>
            </a:r>
            <a:r>
              <a:rPr lang="en-US" dirty="0" smtClean="0"/>
              <a:t>.</a:t>
            </a:r>
          </a:p>
          <a:p>
            <a:pPr marL="342900" indent="-342900" algn="just">
              <a:buFont typeface="+mj-lt"/>
              <a:buAutoNum type="arabicPeriod"/>
            </a:pPr>
            <a:r>
              <a:rPr lang="en-US" dirty="0" smtClean="0"/>
              <a:t>Limited </a:t>
            </a:r>
            <a:r>
              <a:rPr lang="en-US" dirty="0"/>
              <a:t>utilization of important e-commerce factors such as historical sales, product information, pricing, promotions, holidays, and customer behavior for improving forecasting</a:t>
            </a:r>
            <a:r>
              <a:rPr lang="en-US" dirty="0" smtClean="0"/>
              <a:t>.</a:t>
            </a:r>
          </a:p>
          <a:p>
            <a:pPr marL="342900" indent="-342900" algn="just">
              <a:buFont typeface="+mj-lt"/>
              <a:buAutoNum type="arabicPeriod"/>
            </a:pPr>
            <a:r>
              <a:rPr lang="en-US" dirty="0" smtClean="0"/>
              <a:t>Limited </a:t>
            </a:r>
            <a:r>
              <a:rPr lang="en-US" dirty="0"/>
              <a:t>validation of forecasting approaches across multiple e-commerce datasets, making it difficult to determine whether the forecasting performance remains consistent across different datasets and sales environments</a:t>
            </a:r>
            <a:r>
              <a:rPr lang="en-US" dirty="0" smtClean="0"/>
              <a:t>.</a:t>
            </a:r>
          </a:p>
          <a:p>
            <a:pPr marL="342900" indent="-342900" algn="just">
              <a:buFont typeface="+mj-lt"/>
              <a:buAutoNum type="arabicPeriod"/>
            </a:pPr>
            <a:r>
              <a:rPr lang="en-US" dirty="0" smtClean="0"/>
              <a:t>Limited </a:t>
            </a:r>
            <a:r>
              <a:rPr lang="en-US" dirty="0"/>
              <a:t>integration of forecasting results with practical business applications such as inventory planning, demand management, and sales decision-making.</a:t>
            </a:r>
          </a:p>
        </p:txBody>
      </p:sp>
    </p:spTree>
    <p:extLst>
      <p:ext uri="{BB962C8B-B14F-4D97-AF65-F5344CB8AC3E}">
        <p14:creationId xmlns:p14="http://schemas.microsoft.com/office/powerpoint/2010/main" val="33466635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9875520" cy="502920"/>
          </a:xfrm>
          <a:prstGeom prst="rect">
            <a:avLst/>
          </a:prstGeom>
          <a:noFill/>
        </p:spPr>
        <p:txBody>
          <a:bodyPr wrap="none">
            <a:spAutoFit/>
          </a:bodyPr>
          <a:lstStyle/>
          <a:p>
            <a:pPr>
              <a:defRPr sz="2800" b="1">
                <a:solidFill>
                  <a:srgbClr val="122034"/>
                </a:solidFill>
                <a:latin typeface="Aptos Display"/>
              </a:defRPr>
            </a:pPr>
            <a:r>
              <a:t>Innovation</a:t>
            </a:r>
          </a:p>
        </p:txBody>
      </p:sp>
      <p:sp>
        <p:nvSpPr>
          <p:cNvPr id="4" name="TextBox 3"/>
          <p:cNvSpPr txBox="1"/>
          <p:nvPr/>
        </p:nvSpPr>
        <p:spPr>
          <a:xfrm>
            <a:off x="10881360" y="329184"/>
            <a:ext cx="640080" cy="457200"/>
          </a:xfrm>
          <a:prstGeom prst="rect">
            <a:avLst/>
          </a:prstGeom>
          <a:noFill/>
        </p:spPr>
        <p:txBody>
          <a:bodyPr wrap="none">
            <a:spAutoFit/>
          </a:bodyPr>
          <a:lstStyle/>
          <a:p>
            <a:pPr algn="r">
              <a:defRPr sz="2000" b="1">
                <a:solidFill>
                  <a:srgbClr val="2563EB"/>
                </a:solidFill>
              </a:defRPr>
            </a:pPr>
            <a:r>
              <a:t>06</a:t>
            </a:r>
          </a:p>
        </p:txBody>
      </p:sp>
      <p:sp>
        <p:nvSpPr>
          <p:cNvPr id="5" name="Rectangle 4"/>
          <p:cNvSpPr/>
          <p:nvPr/>
        </p:nvSpPr>
        <p:spPr>
          <a:xfrm>
            <a:off x="594360" y="941832"/>
            <a:ext cx="1097280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Table 23"/>
          <p:cNvGraphicFramePr>
            <a:graphicFrameLocks noGrp="1"/>
          </p:cNvGraphicFramePr>
          <p:nvPr>
            <p:extLst>
              <p:ext uri="{D42A27DB-BD31-4B8C-83A1-F6EECF244321}">
                <p14:modId xmlns:p14="http://schemas.microsoft.com/office/powerpoint/2010/main" val="1645489955"/>
              </p:ext>
            </p:extLst>
          </p:nvPr>
        </p:nvGraphicFramePr>
        <p:xfrm>
          <a:off x="621791" y="1316736"/>
          <a:ext cx="10945368" cy="4652259"/>
        </p:xfrm>
        <a:graphic>
          <a:graphicData uri="http://schemas.openxmlformats.org/drawingml/2006/table">
            <a:tbl>
              <a:tblPr firstRow="1" bandRow="1">
                <a:tableStyleId>{5C22544A-7EE6-4342-B048-85BDC9FD1C3A}</a:tableStyleId>
              </a:tblPr>
              <a:tblGrid>
                <a:gridCol w="1146049">
                  <a:extLst>
                    <a:ext uri="{9D8B030D-6E8A-4147-A177-3AD203B41FA5}">
                      <a16:colId xmlns:a16="http://schemas.microsoft.com/office/drawing/2014/main" val="1428033535"/>
                    </a:ext>
                  </a:extLst>
                </a:gridCol>
                <a:gridCol w="4181856">
                  <a:extLst>
                    <a:ext uri="{9D8B030D-6E8A-4147-A177-3AD203B41FA5}">
                      <a16:colId xmlns:a16="http://schemas.microsoft.com/office/drawing/2014/main" val="1341199949"/>
                    </a:ext>
                  </a:extLst>
                </a:gridCol>
                <a:gridCol w="5617463">
                  <a:extLst>
                    <a:ext uri="{9D8B030D-6E8A-4147-A177-3AD203B41FA5}">
                      <a16:colId xmlns:a16="http://schemas.microsoft.com/office/drawing/2014/main" val="3627948731"/>
                    </a:ext>
                  </a:extLst>
                </a:gridCol>
              </a:tblGrid>
              <a:tr h="548640">
                <a:tc>
                  <a:txBody>
                    <a:bodyPr/>
                    <a:lstStyle/>
                    <a:p>
                      <a:r>
                        <a:rPr lang="en-US" dirty="0" err="1" smtClean="0"/>
                        <a:t>S.No</a:t>
                      </a:r>
                      <a:endParaRPr lang="en-IN" dirty="0"/>
                    </a:p>
                  </a:txBody>
                  <a:tcPr/>
                </a:tc>
                <a:tc>
                  <a:txBody>
                    <a:bodyPr/>
                    <a:lstStyle/>
                    <a:p>
                      <a:r>
                        <a:rPr lang="en-US" dirty="0" smtClean="0"/>
                        <a:t>Innovation</a:t>
                      </a:r>
                      <a:endParaRPr lang="en-IN" dirty="0"/>
                    </a:p>
                  </a:txBody>
                  <a:tcPr/>
                </a:tc>
                <a:tc>
                  <a:txBody>
                    <a:bodyPr/>
                    <a:lstStyle/>
                    <a:p>
                      <a:r>
                        <a:rPr lang="en-US" dirty="0" smtClean="0"/>
                        <a:t>Description</a:t>
                      </a:r>
                      <a:endParaRPr lang="en-IN" dirty="0"/>
                    </a:p>
                  </a:txBody>
                  <a:tcPr/>
                </a:tc>
                <a:extLst>
                  <a:ext uri="{0D108BD9-81ED-4DB2-BD59-A6C34878D82A}">
                    <a16:rowId xmlns:a16="http://schemas.microsoft.com/office/drawing/2014/main" val="1217867738"/>
                  </a:ext>
                </a:extLst>
              </a:tr>
              <a:tr h="954330">
                <a:tc>
                  <a:txBody>
                    <a:bodyPr/>
                    <a:lstStyle/>
                    <a:p>
                      <a:r>
                        <a:rPr lang="en-US" dirty="0" smtClean="0"/>
                        <a:t>1</a:t>
                      </a:r>
                      <a:endParaRPr lang="en-IN" dirty="0"/>
                    </a:p>
                  </a:txBody>
                  <a:tcPr/>
                </a:tc>
                <a:tc>
                  <a:txBody>
                    <a:bodyPr/>
                    <a:lstStyle/>
                    <a:p>
                      <a:r>
                        <a:rPr lang="en-IN" dirty="0" smtClean="0"/>
                        <a:t>Multi-Approach Forecasting Framework</a:t>
                      </a:r>
                      <a:endParaRPr lang="en-IN" dirty="0"/>
                    </a:p>
                  </a:txBody>
                  <a:tcPr/>
                </a:tc>
                <a:tc>
                  <a:txBody>
                    <a:bodyPr/>
                    <a:lstStyle/>
                    <a:p>
                      <a:r>
                        <a:rPr lang="en-US" dirty="0" smtClean="0"/>
                        <a:t>Comparing multiple existing forecasting approaches using the same e-commerce dataset and evaluation process to identify the most suitable approach for sales forecasting.</a:t>
                      </a:r>
                      <a:endParaRPr lang="en-IN" dirty="0"/>
                    </a:p>
                  </a:txBody>
                  <a:tcPr/>
                </a:tc>
                <a:extLst>
                  <a:ext uri="{0D108BD9-81ED-4DB2-BD59-A6C34878D82A}">
                    <a16:rowId xmlns:a16="http://schemas.microsoft.com/office/drawing/2014/main" val="1993291395"/>
                  </a:ext>
                </a:extLst>
              </a:tr>
              <a:tr h="954330">
                <a:tc>
                  <a:txBody>
                    <a:bodyPr/>
                    <a:lstStyle/>
                    <a:p>
                      <a:r>
                        <a:rPr lang="en-US" dirty="0" smtClean="0"/>
                        <a:t>2</a:t>
                      </a:r>
                      <a:endParaRPr lang="en-IN" dirty="0"/>
                    </a:p>
                  </a:txBody>
                  <a:tcPr/>
                </a:tc>
                <a:tc>
                  <a:txBody>
                    <a:bodyPr/>
                    <a:lstStyle/>
                    <a:p>
                      <a:r>
                        <a:rPr lang="en-IN" dirty="0" smtClean="0"/>
                        <a:t>Multi-Factor Feature Analysis</a:t>
                      </a:r>
                      <a:endParaRPr lang="en-IN" dirty="0"/>
                    </a:p>
                  </a:txBody>
                  <a:tcPr/>
                </a:tc>
                <a:tc>
                  <a:txBody>
                    <a:bodyPr/>
                    <a:lstStyle/>
                    <a:p>
                      <a:r>
                        <a:rPr lang="en-US" dirty="0" smtClean="0"/>
                        <a:t>Integrating time, product, pricing, promotion, holiday, and historical-sales features to analyze their influence on e-commerce sales forecasting.</a:t>
                      </a:r>
                      <a:endParaRPr lang="en-IN" dirty="0"/>
                    </a:p>
                  </a:txBody>
                  <a:tcPr/>
                </a:tc>
                <a:extLst>
                  <a:ext uri="{0D108BD9-81ED-4DB2-BD59-A6C34878D82A}">
                    <a16:rowId xmlns:a16="http://schemas.microsoft.com/office/drawing/2014/main" val="3295744154"/>
                  </a:ext>
                </a:extLst>
              </a:tr>
              <a:tr h="1240629">
                <a:tc>
                  <a:txBody>
                    <a:bodyPr/>
                    <a:lstStyle/>
                    <a:p>
                      <a:r>
                        <a:rPr lang="en-US" dirty="0" smtClean="0"/>
                        <a:t>3</a:t>
                      </a:r>
                      <a:endParaRPr lang="en-IN"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800" b="0" kern="1200" dirty="0" smtClean="0">
                          <a:solidFill>
                            <a:schemeClr val="dk1"/>
                          </a:solidFill>
                          <a:effectLst/>
                          <a:latin typeface="+mn-lt"/>
                          <a:ea typeface="+mn-ea"/>
                          <a:cs typeface="+mn-cs"/>
                        </a:rPr>
                        <a:t>Multi-Dataset Validation</a:t>
                      </a:r>
                    </a:p>
                    <a:p>
                      <a:endParaRPr lang="en-IN" dirty="0"/>
                    </a:p>
                  </a:txBody>
                  <a:tcPr/>
                </a:tc>
                <a:tc>
                  <a:txBody>
                    <a:bodyPr/>
                    <a:lstStyle/>
                    <a:p>
                      <a:r>
                        <a:rPr lang="en-US" dirty="0" smtClean="0"/>
                        <a:t>Evaluating forecasting approaches across multiple e-commerce datasets to examine the consistency and reliability of forecasting performance across different sales environments.</a:t>
                      </a:r>
                      <a:endParaRPr lang="en-IN" dirty="0"/>
                    </a:p>
                  </a:txBody>
                  <a:tcPr/>
                </a:tc>
                <a:extLst>
                  <a:ext uri="{0D108BD9-81ED-4DB2-BD59-A6C34878D82A}">
                    <a16:rowId xmlns:a16="http://schemas.microsoft.com/office/drawing/2014/main" val="741253413"/>
                  </a:ext>
                </a:extLst>
              </a:tr>
              <a:tr h="954330">
                <a:tc>
                  <a:txBody>
                    <a:bodyPr/>
                    <a:lstStyle/>
                    <a:p>
                      <a:r>
                        <a:rPr lang="en-US" dirty="0" smtClean="0"/>
                        <a:t>4</a:t>
                      </a:r>
                      <a:endParaRPr lang="en-IN" dirty="0"/>
                    </a:p>
                  </a:txBody>
                  <a:tcPr/>
                </a:tc>
                <a:tc>
                  <a:txBody>
                    <a:bodyPr/>
                    <a:lstStyle/>
                    <a:p>
                      <a:r>
                        <a:rPr lang="en-IN" dirty="0" smtClean="0"/>
                        <a:t>Practical Forecasting Dashboard</a:t>
                      </a:r>
                      <a:endParaRPr lang="en-IN" dirty="0"/>
                    </a:p>
                  </a:txBody>
                  <a:tcPr/>
                </a:tc>
                <a:tc>
                  <a:txBody>
                    <a:bodyPr/>
                    <a:lstStyle/>
                    <a:p>
                      <a:r>
                        <a:rPr lang="en-US" dirty="0" smtClean="0"/>
                        <a:t>Developing an interactive dashboard that presents sales forecasts, trends, and key insights to support inventory planning and data-driven sales decisions.</a:t>
                      </a:r>
                      <a:endParaRPr lang="en-IN" dirty="0"/>
                    </a:p>
                  </a:txBody>
                  <a:tcPr/>
                </a:tc>
                <a:extLst>
                  <a:ext uri="{0D108BD9-81ED-4DB2-BD59-A6C34878D82A}">
                    <a16:rowId xmlns:a16="http://schemas.microsoft.com/office/drawing/2014/main" val="1314849443"/>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2359941" cy="523220"/>
          </a:xfrm>
          <a:prstGeom prst="rect">
            <a:avLst/>
          </a:prstGeom>
          <a:noFill/>
        </p:spPr>
        <p:txBody>
          <a:bodyPr wrap="none">
            <a:spAutoFit/>
          </a:bodyPr>
          <a:lstStyle/>
          <a:p>
            <a:pPr>
              <a:defRPr sz="2800" b="1">
                <a:solidFill>
                  <a:srgbClr val="122034"/>
                </a:solidFill>
                <a:latin typeface="Aptos Display"/>
              </a:defRPr>
            </a:pPr>
            <a:r>
              <a:rPr lang="en-IN" dirty="0" smtClean="0"/>
              <a:t>Project Plan </a:t>
            </a:r>
            <a:endParaRPr lang="en-IN" dirty="0"/>
          </a:p>
        </p:txBody>
      </p:sp>
      <p:sp>
        <p:nvSpPr>
          <p:cNvPr id="4" name="TextBox 3"/>
          <p:cNvSpPr txBox="1"/>
          <p:nvPr/>
        </p:nvSpPr>
        <p:spPr>
          <a:xfrm>
            <a:off x="11077088" y="329184"/>
            <a:ext cx="444352" cy="400110"/>
          </a:xfrm>
          <a:prstGeom prst="rect">
            <a:avLst/>
          </a:prstGeom>
          <a:noFill/>
        </p:spPr>
        <p:txBody>
          <a:bodyPr wrap="none">
            <a:spAutoFit/>
          </a:bodyPr>
          <a:lstStyle/>
          <a:p>
            <a:pPr algn="r">
              <a:defRPr sz="2000" b="1">
                <a:solidFill>
                  <a:srgbClr val="2563EB"/>
                </a:solidFill>
              </a:defRPr>
            </a:pPr>
            <a:r>
              <a:rPr smtClean="0"/>
              <a:t>0</a:t>
            </a:r>
            <a:r>
              <a:rPr lang="en-US" smtClean="0"/>
              <a:t>7</a:t>
            </a:r>
            <a:endParaRPr/>
          </a:p>
        </p:txBody>
      </p:sp>
      <p:sp>
        <p:nvSpPr>
          <p:cNvPr id="5" name="Rectangle 4"/>
          <p:cNvSpPr/>
          <p:nvPr/>
        </p:nvSpPr>
        <p:spPr>
          <a:xfrm>
            <a:off x="594360" y="941832"/>
            <a:ext cx="1097280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1792" y="1120140"/>
            <a:ext cx="9168383" cy="5816977"/>
          </a:xfrm>
          <a:prstGeom prst="rect">
            <a:avLst/>
          </a:prstGeom>
        </p:spPr>
        <p:txBody>
          <a:bodyPr wrap="square">
            <a:spAutoFit/>
          </a:bodyPr>
          <a:lstStyle/>
          <a:p>
            <a:pPr>
              <a:defRPr sz="2800" b="1">
                <a:solidFill>
                  <a:srgbClr val="122034"/>
                </a:solidFill>
                <a:latin typeface="Aptos Display"/>
              </a:defRPr>
            </a:pPr>
            <a:r>
              <a:rPr lang="en-US" sz="1200" b="1" dirty="0" smtClean="0"/>
              <a:t>Phase 1: Data Collection &amp; Preprocessing</a:t>
            </a:r>
          </a:p>
          <a:p>
            <a:r>
              <a:rPr lang="en-US" sz="1200" dirty="0" smtClean="0"/>
              <a:t>• Collect E-Commerce sales datasets from </a:t>
            </a:r>
            <a:r>
              <a:rPr lang="en-US" sz="1200" dirty="0" err="1" smtClean="0"/>
              <a:t>Kaggle</a:t>
            </a:r>
            <a:r>
              <a:rPr lang="en-US" sz="1200" dirty="0" smtClean="0"/>
              <a:t>/UCI</a:t>
            </a:r>
          </a:p>
          <a:p>
            <a:r>
              <a:rPr lang="en-US" sz="1200" dirty="0" smtClean="0"/>
              <a:t>• Handle missing values, duplicates, and inconsistent data</a:t>
            </a:r>
          </a:p>
          <a:p>
            <a:r>
              <a:rPr lang="en-US" sz="1200" dirty="0" smtClean="0"/>
              <a:t>• Perform feature engineering and prepare time-based features</a:t>
            </a:r>
          </a:p>
          <a:p>
            <a:pPr>
              <a:defRPr sz="2800" b="1">
                <a:solidFill>
                  <a:srgbClr val="122034"/>
                </a:solidFill>
                <a:latin typeface="Aptos Display"/>
              </a:defRPr>
            </a:pPr>
            <a:r>
              <a:rPr lang="en-US" sz="1200" b="1" dirty="0" smtClean="0"/>
              <a:t>Phase 2: Exploratory Data Analysis</a:t>
            </a:r>
          </a:p>
          <a:p>
            <a:r>
              <a:rPr lang="en-US" sz="1200" dirty="0" smtClean="0"/>
              <a:t>• Analyze sales trends and seasonal patterns</a:t>
            </a:r>
          </a:p>
          <a:p>
            <a:r>
              <a:rPr lang="en-US" sz="1200" dirty="0" smtClean="0"/>
              <a:t>• Identify product, category, and customer-wise sales patterns</a:t>
            </a:r>
          </a:p>
          <a:p>
            <a:r>
              <a:rPr lang="en-US" sz="1200" dirty="0" smtClean="0"/>
              <a:t>• Visualize sales distribution and demand fluctuations</a:t>
            </a:r>
          </a:p>
          <a:p>
            <a:r>
              <a:rPr lang="en-IN" sz="1400" b="1" dirty="0" smtClean="0"/>
              <a:t>Phase 3: Forecasting Model Development</a:t>
            </a:r>
          </a:p>
          <a:p>
            <a:r>
              <a:rPr lang="en-IN" sz="1200" dirty="0" smtClean="0"/>
              <a:t>• Train Linear Regression, Random Forest, </a:t>
            </a:r>
            <a:r>
              <a:rPr lang="en-IN" sz="1200" dirty="0" err="1" smtClean="0"/>
              <a:t>XGBoost</a:t>
            </a:r>
            <a:r>
              <a:rPr lang="en-IN" sz="1200" dirty="0" smtClean="0"/>
              <a:t>, and LSTM models</a:t>
            </a:r>
          </a:p>
          <a:p>
            <a:r>
              <a:rPr lang="en-IN" sz="1200" dirty="0" smtClean="0"/>
              <a:t>• Perform </a:t>
            </a:r>
            <a:r>
              <a:rPr lang="en-IN" sz="1200" dirty="0" err="1" smtClean="0"/>
              <a:t>hyperparameter</a:t>
            </a:r>
            <a:r>
              <a:rPr lang="en-IN" sz="1200" dirty="0" smtClean="0"/>
              <a:t> tuning for better predictions</a:t>
            </a:r>
          </a:p>
          <a:p>
            <a:r>
              <a:rPr lang="en-IN" sz="1200" dirty="0" smtClean="0"/>
              <a:t>• Generate future sales and demand forecasts</a:t>
            </a:r>
          </a:p>
          <a:p>
            <a:r>
              <a:rPr lang="en-US" sz="1400" b="1" dirty="0" smtClean="0"/>
              <a:t>Phase 4: Model Evaluation &amp; Comparison</a:t>
            </a:r>
          </a:p>
          <a:p>
            <a:r>
              <a:rPr lang="en-US" sz="1200" dirty="0" smtClean="0"/>
              <a:t>• Evaluate models using MAE, RMSE, MAPE, and R²</a:t>
            </a:r>
          </a:p>
          <a:p>
            <a:r>
              <a:rPr lang="en-US" sz="1200" dirty="0" smtClean="0"/>
              <a:t>• Compare forecasting accuracy of different models</a:t>
            </a:r>
          </a:p>
          <a:p>
            <a:r>
              <a:rPr lang="en-US" sz="1200" dirty="0" smtClean="0"/>
              <a:t>• Select the best-performing forecasting model</a:t>
            </a:r>
            <a:br>
              <a:rPr lang="en-US" sz="1200" dirty="0" smtClean="0"/>
            </a:br>
            <a:r>
              <a:rPr lang="en-US" sz="1400" b="1" dirty="0" smtClean="0"/>
              <a:t>Phase 5: Forecasting Dashboard Development</a:t>
            </a:r>
          </a:p>
          <a:p>
            <a:r>
              <a:rPr lang="en-US" sz="1200" dirty="0" smtClean="0"/>
              <a:t>• Develop an interactive sales forecasting dashboard</a:t>
            </a:r>
          </a:p>
          <a:p>
            <a:r>
              <a:rPr lang="en-US" sz="1200" dirty="0" smtClean="0"/>
              <a:t>• Display historical sales and predicted future sales</a:t>
            </a:r>
          </a:p>
          <a:p>
            <a:r>
              <a:rPr lang="en-US" sz="1200" dirty="0" smtClean="0"/>
              <a:t>• Provide product/category-wise forecasting insights</a:t>
            </a:r>
            <a:br>
              <a:rPr lang="en-US" sz="1200" dirty="0" smtClean="0"/>
            </a:br>
            <a:r>
              <a:rPr lang="en-US" sz="1400" b="1" dirty="0" smtClean="0"/>
              <a:t>Phase 6: Business Insights &amp; Decision Support</a:t>
            </a:r>
          </a:p>
          <a:p>
            <a:r>
              <a:rPr lang="en-US" sz="1200" dirty="0" smtClean="0"/>
              <a:t>• Identify high-demand and low-demand products</a:t>
            </a:r>
          </a:p>
          <a:p>
            <a:r>
              <a:rPr lang="en-US" sz="1200" dirty="0" smtClean="0"/>
              <a:t>• Provide insights for inventory and sales planning</a:t>
            </a:r>
          </a:p>
          <a:p>
            <a:r>
              <a:rPr lang="en-US" sz="1200" dirty="0" smtClean="0"/>
              <a:t>• Support data-driven business decision-making</a:t>
            </a:r>
            <a:br>
              <a:rPr lang="en-US" sz="1200" dirty="0" smtClean="0"/>
            </a:br>
            <a:r>
              <a:rPr lang="en-US" sz="1400" b="1" dirty="0" smtClean="0"/>
              <a:t>Phase 7: Final Integration &amp; Documentation</a:t>
            </a:r>
          </a:p>
          <a:p>
            <a:r>
              <a:rPr lang="en-US" sz="1200" dirty="0" smtClean="0"/>
              <a:t>• Integrate the selected model with the forecasting dashboard</a:t>
            </a:r>
          </a:p>
          <a:p>
            <a:r>
              <a:rPr lang="en-US" sz="1200" dirty="0" smtClean="0"/>
              <a:t>• Validate the complete system using test data</a:t>
            </a:r>
          </a:p>
          <a:p>
            <a:r>
              <a:rPr lang="en-US" sz="1200" dirty="0" smtClean="0"/>
              <a:t>• Prepare project documentation, results, and presentation</a:t>
            </a:r>
          </a:p>
          <a:p>
            <a:endParaRPr lang="en-IN" sz="12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844</TotalTime>
  <Words>934</Words>
  <Application>Microsoft Office PowerPoint</Application>
  <PresentationFormat>Widescreen</PresentationFormat>
  <Paragraphs>125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keywords/>
  <dc:description>generated using python-pptx</dc:description>
  <cp:lastModifiedBy>Vignesh</cp:lastModifiedBy>
  <cp:revision>18</cp:revision>
  <dcterms:created xsi:type="dcterms:W3CDTF">2013-01-27T09:14:16Z</dcterms:created>
  <dcterms:modified xsi:type="dcterms:W3CDTF">2026-08-18T05:20:42Z</dcterms:modified>
  <cp:category/>
</cp:coreProperties>
</file>